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5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2ACE-D14A-3505-0DD6-C26CF21D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4949B-4818-7622-9CCC-0EA9C07AE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E2FEE-8783-039E-6ADE-F6381A5C5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E7410-02BF-9F2A-C32F-654090060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98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64592" cy="4997196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6EFD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" y="25374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0749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</a:t>
            </a:r>
            <a:r>
              <a:rPr lang="en-US" sz="4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Intelligence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&amp; KYC Platform  ·  Know Your Customer Before You Lend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029200" cy="36576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Harshita        Pooja         Ridhima         Riya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13A238-7B91-7EBD-CA42-C285EAE5A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132" y="3926337"/>
            <a:ext cx="850110" cy="8587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1EF305-DD89-7DD9-60E5-F09805616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95" y="3931920"/>
            <a:ext cx="850109" cy="8252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2F0E19-08DA-CE9F-B2A7-1016AED6B6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64" t="26159" r="14269" b="23778"/>
          <a:stretch>
            <a:fillRect/>
          </a:stretch>
        </p:blipFill>
        <p:spPr>
          <a:xfrm>
            <a:off x="4211380" y="3903785"/>
            <a:ext cx="721240" cy="8364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B4D73E6-A066-DABA-C612-0DEFEFFE78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7778"/>
          <a:stretch>
            <a:fillRect/>
          </a:stretch>
        </p:blipFill>
        <p:spPr>
          <a:xfrm>
            <a:off x="1757320" y="3926337"/>
            <a:ext cx="756132" cy="836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 &amp; Sections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02920" cy="77724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1795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Team &amp; Problem Statement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50292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1795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(EDA)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Exploration, Distributions &amp; Correlations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6654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066544"/>
            <a:ext cx="502920" cy="77724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459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Analysis, AML Engine &amp; Regulatory Checklist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06654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066544"/>
            <a:ext cx="502920" cy="777240"/>
          </a:xfrm>
          <a:prstGeom prst="rect">
            <a:avLst/>
          </a:prstGeom>
          <a:solidFill>
            <a:srgbClr val="FF4D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Anomaly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459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Scoring &amp; Customer Segmentation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9008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990088"/>
            <a:ext cx="502920" cy="7772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3026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YOLO-Based ID Verification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99008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2990088"/>
            <a:ext cx="502920" cy="7772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026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Profiling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Risk Assessment &amp; Loan Decision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3913632"/>
            <a:ext cx="502920" cy="77724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680" y="3950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Scoring &amp; Portfolio Reports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3068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Tests, Portfolio Analytics &amp; Export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91363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3913632"/>
            <a:ext cx="502920" cy="77724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49240" y="3950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43068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&amp; Future Scope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Analytics &amp; Intelligence — AI-Powered Credit Risk &amp; KYC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5029200" cy="3611880"/>
          </a:xfrm>
          <a:prstGeom prst="rect">
            <a:avLst/>
          </a:prstGeom>
          <a:solidFill>
            <a:srgbClr val="F0F8FF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FinGuard?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6861" y="13030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is a full-stack AI-powered Credit Risk &amp; KYC platform built to help financial institutions make smarter, faster, and safer lending decisions.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Machine Learning models, real-time analytics, fraud detection algorithms, and regulatory compliance tools under one unified platform.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7568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13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8D1CF0-1E30-5B66-C410-5C2103A97862}"/>
              </a:ext>
            </a:extLst>
          </p:cNvPr>
          <p:cNvGrpSpPr/>
          <p:nvPr/>
        </p:nvGrpSpPr>
        <p:grpSpPr>
          <a:xfrm>
            <a:off x="478302" y="2788391"/>
            <a:ext cx="298236" cy="1243584"/>
            <a:chOff x="457200" y="3145536"/>
            <a:chExt cx="298236" cy="1243584"/>
          </a:xfrm>
        </p:grpSpPr>
        <p:sp>
          <p:nvSpPr>
            <p:cNvPr id="10" name="Shape 8"/>
            <p:cNvSpPr/>
            <p:nvPr/>
          </p:nvSpPr>
          <p:spPr>
            <a:xfrm>
              <a:off x="457200" y="3145536"/>
              <a:ext cx="292608" cy="292608"/>
            </a:xfrm>
            <a:prstGeom prst="ellipse">
              <a:avLst/>
            </a:prstGeom>
            <a:solidFill>
              <a:srgbClr val="0D6EF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314553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" y="3621024"/>
              <a:ext cx="292608" cy="292608"/>
            </a:xfrm>
            <a:prstGeom prst="ellipse">
              <a:avLst/>
            </a:prstGeom>
            <a:solidFill>
              <a:srgbClr val="FF8C4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" y="362102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" y="4096512"/>
              <a:ext cx="292608" cy="292608"/>
            </a:xfrm>
            <a:prstGeom prst="ellipse">
              <a:avLst/>
            </a:prstGeom>
            <a:solidFill>
              <a:srgbClr val="06D6A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462828" y="4096512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</a:t>
              </a:r>
              <a:endParaRPr lang="en-US" sz="11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13B6AA-708F-E1A5-3BF5-AF51D13C740A}"/>
              </a:ext>
            </a:extLst>
          </p:cNvPr>
          <p:cNvGrpSpPr/>
          <p:nvPr/>
        </p:nvGrpSpPr>
        <p:grpSpPr>
          <a:xfrm>
            <a:off x="914400" y="2766499"/>
            <a:ext cx="4389120" cy="1353312"/>
            <a:chOff x="822960" y="3108960"/>
            <a:chExt cx="4389120" cy="1353312"/>
          </a:xfrm>
        </p:grpSpPr>
        <p:sp>
          <p:nvSpPr>
            <p:cNvPr id="12" name="Text 10"/>
            <p:cNvSpPr/>
            <p:nvPr/>
          </p:nvSpPr>
          <p:spPr>
            <a:xfrm>
              <a:off x="822960" y="310896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Harshita — ML Architect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22960" y="332841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A + Integration — Pipeline design, GitHub repo, end-to-end integration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3584448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Pooja — Risk Analyst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2960" y="3803904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D + Ethics — VaR dashboard, AML engine, compliance audit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22960" y="4059936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Ridhima — Data Scientist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2960" y="4279392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Modules B, C— Fraud detection, credit profiling</a:t>
              </a:r>
              <a:endParaRPr lang="en-US" sz="900" dirty="0"/>
            </a:p>
          </p:txBody>
        </p:sp>
      </p:grp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51560"/>
            <a:ext cx="3383280" cy="3611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23" name="Shape 8">
            <a:extLst>
              <a:ext uri="{FF2B5EF4-FFF2-40B4-BE49-F238E27FC236}">
                <a16:creationId xmlns:a16="http://schemas.microsoft.com/office/drawing/2014/main" id="{0826F0B8-59B3-03E7-DDEC-76CF2AB06813}"/>
              </a:ext>
            </a:extLst>
          </p:cNvPr>
          <p:cNvSpPr/>
          <p:nvPr/>
        </p:nvSpPr>
        <p:spPr>
          <a:xfrm>
            <a:off x="483930" y="4187423"/>
            <a:ext cx="292608" cy="292608"/>
          </a:xfrm>
          <a:prstGeom prst="ellipse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28D2712A-340C-D63B-29E3-1C13BB3F3E69}"/>
              </a:ext>
            </a:extLst>
          </p:cNvPr>
          <p:cNvSpPr/>
          <p:nvPr/>
        </p:nvSpPr>
        <p:spPr>
          <a:xfrm>
            <a:off x="479711" y="41874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9A4217D1-C6FF-428A-09C6-C067F5D77CD3}"/>
              </a:ext>
            </a:extLst>
          </p:cNvPr>
          <p:cNvSpPr/>
          <p:nvPr/>
        </p:nvSpPr>
        <p:spPr>
          <a:xfrm>
            <a:off x="914400" y="417602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—Biz Analyst</a:t>
            </a:r>
            <a:endParaRPr lang="en-US" sz="11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94E3C53B-8836-52A8-7D44-561D87BF5136}"/>
              </a:ext>
            </a:extLst>
          </p:cNvPr>
          <p:cNvSpPr/>
          <p:nvPr/>
        </p:nvSpPr>
        <p:spPr>
          <a:xfrm>
            <a:off x="910181" y="436315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 —Pitch deck, EL pipeline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EDA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Exploratory Data Analysis — Know Your Portfolio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4297680" cy="2468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05840"/>
            <a:ext cx="4297680" cy="2468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28600" y="35204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Income vs Loan Amount &amp; Age Distribution by Default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17720" y="35204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Income Distribution, Loan Amount Distribution &amp; Summary Stats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28600" y="3886200"/>
            <a:ext cx="2011680" cy="896112"/>
          </a:xfrm>
          <a:prstGeom prst="rect">
            <a:avLst/>
          </a:prstGeom>
          <a:solidFill>
            <a:srgbClr val="0D6EFD">
              <a:alpha val="12000"/>
            </a:srgbClr>
          </a:solidFill>
          <a:ln w="1905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28600" y="3959352"/>
            <a:ext cx="20116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28600" y="4423867"/>
            <a:ext cx="20116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Records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423160" y="3886200"/>
            <a:ext cx="2011680" cy="896112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423160" y="3959352"/>
            <a:ext cx="20116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423160" y="4423867"/>
            <a:ext cx="20116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(Random Forest)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3886200"/>
            <a:ext cx="2011680" cy="896112"/>
          </a:xfrm>
          <a:prstGeom prst="rect">
            <a:avLst/>
          </a:prstGeom>
          <a:solidFill>
            <a:srgbClr val="FF4D8B">
              <a:alpha val="12000"/>
            </a:srgbClr>
          </a:solidFill>
          <a:ln w="1905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617720" y="3959352"/>
            <a:ext cx="20116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617720" y="4423867"/>
            <a:ext cx="20116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812280" y="3886200"/>
            <a:ext cx="2011680" cy="896112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12280" y="3959352"/>
            <a:ext cx="20116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812280" y="4423867"/>
            <a:ext cx="20116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Demographics / Correlations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 — VaR Analysis, AML Engine &amp; Regulatory Compliance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120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577840" y="1051560"/>
            <a:ext cx="3337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0" y="1106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Value at Risk (VaR)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3807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VaR computed at configurable confidence levels (95%+). Portfolio P&amp;L distribution visualised with VaR cut-off line.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121408"/>
            <a:ext cx="3337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69280" y="2176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Expected Shortfall (CVaR)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24505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Beyond-VaR risk: CVaR gives average loss in worst-case scenarios, providing a fuller tail-risk picture.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3191256"/>
            <a:ext cx="3337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69280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Expected Loss (EL)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= PD × LGD × EAD. Computes the expected credit loss for individual borrowers and portfolios.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8600" y="4325112"/>
            <a:ext cx="1645920" cy="713232"/>
          </a:xfrm>
          <a:prstGeom prst="rect">
            <a:avLst/>
          </a:prstGeom>
          <a:solidFill>
            <a:srgbClr val="FF8C42">
              <a:alpha val="12000"/>
            </a:srgbClr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28600" y="4398264"/>
            <a:ext cx="1645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$316,056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28600" y="4753051"/>
            <a:ext cx="1645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(1-day @ 95%)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920240" y="4325112"/>
            <a:ext cx="1645920" cy="713232"/>
          </a:xfrm>
          <a:prstGeom prst="rect">
            <a:avLst/>
          </a:prstGeom>
          <a:solidFill>
            <a:srgbClr val="FF4D8B">
              <a:alpha val="12000"/>
            </a:srgbClr>
          </a:solidFill>
          <a:ln w="1905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920240" y="4398264"/>
            <a:ext cx="1645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$402,131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920240" y="4753051"/>
            <a:ext cx="1645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(Exp. Shortfall)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11880" y="4325112"/>
            <a:ext cx="164592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611880" y="4398264"/>
            <a:ext cx="1645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611880" y="4753051"/>
            <a:ext cx="1645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03520" y="4325112"/>
            <a:ext cx="1645920" cy="713232"/>
          </a:xfrm>
          <a:prstGeom prst="rect">
            <a:avLst/>
          </a:prstGeom>
          <a:solidFill>
            <a:srgbClr val="0D6EFD">
              <a:alpha val="12000"/>
            </a:srgbClr>
          </a:solidFill>
          <a:ln w="1905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303520" y="4398264"/>
            <a:ext cx="1645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5303520" y="4753051"/>
            <a:ext cx="1645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95160" y="4325112"/>
            <a:ext cx="1737360" cy="713232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95160" y="4398264"/>
            <a:ext cx="17373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$4,383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995160" y="4753051"/>
            <a:ext cx="17373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Engine &amp; Regulatory Compliance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Screening + KYC/RBI Compliance Checklist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4251960" cy="26060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51960" cy="26060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28600" y="3703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Engine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28600" y="402336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customers against risk factors: declared income, loan size, country of origin, transaction frequency, and Politically Exposed Person (PEP) status.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AML score 0–100 with risk classification (LOW / MEDIUM / HIGH).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63440" y="3703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63440" y="402336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checks: PAN/Aadhaar identity, source of funds, AML screening, PEP check (4/5 passed).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Guidelines: Fair Practice Code, interest disclosure, cooling-off period, digital loan agreement — all 5/5 passed.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Anomaly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Isolation Forest Anomaly Detection + K-Means Customer Segmentation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4251960" cy="26060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51960" cy="26060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228600" y="3703320"/>
            <a:ext cx="4251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320040" y="3749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Scoring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0040" y="4059936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 detects anomalous credit profiles from normal applicants.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Loan Anomaly Map shows suspicious records as red dots.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Expected Fraud Rate slider (default 5%).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Suspicious = 3, Normal = 47, Fraud Rate = 6%.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63440" y="3703320"/>
            <a:ext cx="4251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754880" y="3749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54880" y="4059936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customers into behavioural clusters using K-Means (K=3 default).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1: High income (₹86K), low default (0%) — Premium Clients.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2: Mid income (₹41K), high default (66%) — Risk Group.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3: Very high income (₹136K), no default — Safe High-Value.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KYC Verification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 — Identity Verification using Computer Vision &amp; YOLO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39"/>
            <a:ext cx="5120640" cy="3995225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9180A1E-B3A7-D1B2-3464-776B7E5966AF}"/>
              </a:ext>
            </a:extLst>
          </p:cNvPr>
          <p:cNvGrpSpPr/>
          <p:nvPr/>
        </p:nvGrpSpPr>
        <p:grpSpPr>
          <a:xfrm>
            <a:off x="5577839" y="1051560"/>
            <a:ext cx="3439551" cy="3893234"/>
            <a:chOff x="5577840" y="1051560"/>
            <a:chExt cx="3337560" cy="3165934"/>
          </a:xfrm>
        </p:grpSpPr>
        <p:sp>
          <p:nvSpPr>
            <p:cNvPr id="7" name="Shape 4"/>
            <p:cNvSpPr/>
            <p:nvPr/>
          </p:nvSpPr>
          <p:spPr>
            <a:xfrm>
              <a:off x="5577840" y="1051560"/>
              <a:ext cx="3337560" cy="713232"/>
            </a:xfrm>
            <a:prstGeom prst="rect">
              <a:avLst/>
            </a:prstGeom>
            <a:solidFill>
              <a:srgbClr val="F0F8FF"/>
            </a:solidFill>
            <a:ln w="15240">
              <a:solidFill>
                <a:srgbClr val="06D6A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5669280" y="1097280"/>
              <a:ext cx="3154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🪪  Government ID Upload</a:t>
              </a:r>
              <a:endParaRPr lang="en-US" sz="11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669280" y="1353312"/>
              <a:ext cx="3154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Accepts any government-issued ID (PAN, Aadhaar, Passport). File is parsed and validated against declared customer data.</a:t>
              </a:r>
              <a:endParaRPr lang="en-US" sz="9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577840" y="1865376"/>
              <a:ext cx="3337560" cy="713232"/>
            </a:xfrm>
            <a:prstGeom prst="rect">
              <a:avLst/>
            </a:prstGeom>
            <a:solidFill>
              <a:srgbClr val="F0F8FF"/>
            </a:solidFill>
            <a:ln w="15240">
              <a:solidFill>
                <a:srgbClr val="06D6A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5669280" y="1911096"/>
              <a:ext cx="3154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🤳  Selfie Capture / Upload</a:t>
              </a:r>
              <a:endParaRPr lang="en-US" sz="11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669280" y="2167128"/>
              <a:ext cx="3154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uploads a live photo or selfie. AI compares face with government ID photo for identity matching.</a:t>
              </a:r>
              <a:endParaRPr lang="en-US" sz="9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77840" y="2679192"/>
              <a:ext cx="3337560" cy="713232"/>
            </a:xfrm>
            <a:prstGeom prst="rect">
              <a:avLst/>
            </a:prstGeom>
            <a:solidFill>
              <a:srgbClr val="F0F8FF"/>
            </a:solidFill>
            <a:ln w="15240">
              <a:solidFill>
                <a:srgbClr val="06D6A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1"/>
            <p:cNvSpPr/>
            <p:nvPr/>
          </p:nvSpPr>
          <p:spPr>
            <a:xfrm>
              <a:off x="5669280" y="2724912"/>
              <a:ext cx="3154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🔍  YOLO-Based Detection</a:t>
              </a:r>
              <a:endParaRPr lang="en-US" sz="11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669280" y="2980944"/>
              <a:ext cx="3154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YOLO (You Only Look Once) object detection model identifies and extracts document regions and facial landmarks.</a:t>
              </a:r>
              <a:endParaRPr lang="en-US" sz="9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577840" y="3504262"/>
              <a:ext cx="3337560" cy="713232"/>
            </a:xfrm>
            <a:prstGeom prst="rect">
              <a:avLst/>
            </a:prstGeom>
            <a:solidFill>
              <a:srgbClr val="F0F8FF"/>
            </a:solidFill>
            <a:ln w="15240">
              <a:solidFill>
                <a:srgbClr val="06D6A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4"/>
            <p:cNvSpPr/>
            <p:nvPr/>
          </p:nvSpPr>
          <p:spPr>
            <a:xfrm>
              <a:off x="5669280" y="3538728"/>
              <a:ext cx="3154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Instant Verification Result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669280" y="3794760"/>
              <a:ext cx="3154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returns pass/fail with confidence score in real time. Prevents fake IDs and impersonation fraud.</a:t>
              </a:r>
              <a:endParaRPr lang="en-US" sz="9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Profiling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Individual Customer Risk Assessment &amp; Loan Decision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120640" cy="324612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577840" y="1051560"/>
            <a:ext cx="33375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77840" y="1051560"/>
            <a:ext cx="128016" cy="71323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0" y="11064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Meter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3624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gauge shows score (300–900). Score of 850 = APPROVED with 0% default probability.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865376"/>
            <a:ext cx="33375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577840" y="1865376"/>
            <a:ext cx="128016" cy="713232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0" y="19202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21762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accuracy ML model trained on applicant features: income, age, employment, loan grade, DTI ratio.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679192"/>
            <a:ext cx="33375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577840" y="2679192"/>
            <a:ext cx="128016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60720" y="27340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Decision Output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29900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APPROVED / REJECTED banner with amount, purpose, and DTI ratio displayed prominently.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493008"/>
            <a:ext cx="33375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577840" y="3493008"/>
            <a:ext cx="128016" cy="713232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760720" y="35478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Breakdown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38039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PD, LGD, EAD and computes Expected Loss. Full risk transparency for underwriters.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28600" y="4325112"/>
            <a:ext cx="1737360" cy="713232"/>
          </a:xfrm>
          <a:prstGeom prst="rect">
            <a:avLst/>
          </a:prstGeom>
          <a:solidFill>
            <a:srgbClr val="0D6EFD">
              <a:alpha val="12000"/>
            </a:srgbClr>
          </a:solidFill>
          <a:ln w="1905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28600" y="4398264"/>
            <a:ext cx="17373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Harshita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228600" y="4753051"/>
            <a:ext cx="17373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Customer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57400" y="4325112"/>
            <a:ext cx="1737360" cy="713232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057400" y="4398264"/>
            <a:ext cx="17373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2057400" y="4753051"/>
            <a:ext cx="17373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886200" y="4325112"/>
            <a:ext cx="1737360" cy="713232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886200" y="4398264"/>
            <a:ext cx="17373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3886200" y="4753051"/>
            <a:ext cx="17373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15000" y="4325112"/>
            <a:ext cx="173736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715000" y="4398264"/>
            <a:ext cx="17373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5715000" y="4753051"/>
            <a:ext cx="17373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43800" y="4306824"/>
            <a:ext cx="1463040" cy="713232"/>
          </a:xfrm>
          <a:prstGeom prst="rect">
            <a:avLst/>
          </a:prstGeom>
          <a:solidFill>
            <a:srgbClr val="FF8C42">
              <a:alpha val="12000"/>
            </a:srgbClr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543800" y="4388909"/>
            <a:ext cx="14630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7543800" y="4741797"/>
            <a:ext cx="14630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Reports &amp; Batch Scoring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 — Stress Testing, Portfolio Analytics &amp; Export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120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713232"/>
          </a:xfrm>
          <a:prstGeom prst="rect">
            <a:avLst/>
          </a:prstGeom>
          <a:solidFill>
            <a:srgbClr val="F0F8FF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0" y="10515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Portfolio Summary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3075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applications, 62% approval, 38% default. Total exposure ₹12.8 lakh. Avg loan ₹25,630.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828800"/>
            <a:ext cx="3337560" cy="713232"/>
          </a:xfrm>
          <a:prstGeom prst="rect">
            <a:avLst/>
          </a:prstGeom>
          <a:solidFill>
            <a:srgbClr val="F0F8FF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69280" y="18745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Stress Test Scenarios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21305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→ Mild Recession → Moderate Stress → Severe Crisis. Capital requirements up to ₹8.9 lakh.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651760"/>
            <a:ext cx="3337560" cy="713232"/>
          </a:xfrm>
          <a:prstGeom prst="rect">
            <a:avLst/>
          </a:prstGeom>
          <a:solidFill>
            <a:srgbClr val="F0F8FF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69280" y="26974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Default by Loan Grade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29535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default rate across grades and income brackets — identifies risk concentration.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474720"/>
            <a:ext cx="3337560" cy="713232"/>
          </a:xfrm>
          <a:prstGeom prst="rect">
            <a:avLst/>
          </a:prstGeom>
          <a:solidFill>
            <a:srgbClr val="F0F8FF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669280" y="35204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Report Export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full portfolio report export as PDF for regulators, audit, and investor presentations.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28600" y="4325112"/>
            <a:ext cx="1920240" cy="713232"/>
          </a:xfrm>
          <a:prstGeom prst="rect">
            <a:avLst/>
          </a:prstGeom>
          <a:solidFill>
            <a:srgbClr val="0D6EFD">
              <a:alpha val="12000"/>
            </a:srgbClr>
          </a:solidFill>
          <a:ln w="1905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28600" y="4398264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228600" y="4753051"/>
            <a:ext cx="19202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40280" y="4325112"/>
            <a:ext cx="192024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240280" y="4398264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₹12.8L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2240280" y="4753051"/>
            <a:ext cx="19202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51960" y="4325112"/>
            <a:ext cx="1920240" cy="713232"/>
          </a:xfrm>
          <a:prstGeom prst="rect">
            <a:avLst/>
          </a:prstGeom>
          <a:solidFill>
            <a:srgbClr val="FF4D8B">
              <a:alpha val="12000"/>
            </a:srgbClr>
          </a:solidFill>
          <a:ln w="1905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251960" y="4398264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₹8.93L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4251960" y="4753051"/>
            <a:ext cx="19202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Crisis Capital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63640" y="4325112"/>
            <a:ext cx="2743200" cy="713232"/>
          </a:xfrm>
          <a:prstGeom prst="rect">
            <a:avLst/>
          </a:prstGeom>
          <a:solidFill>
            <a:srgbClr val="FF8C42">
              <a:alpha val="12000"/>
            </a:srgbClr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263640" y="4398264"/>
            <a:ext cx="27432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Levels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263640" y="4753051"/>
            <a:ext cx="274320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Scenarios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FinGuard Creates Value Across the Financial Ecosystem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788920" cy="411480"/>
          </a:xfrm>
          <a:prstGeom prst="rect">
            <a:avLst/>
          </a:prstGeom>
          <a:solidFill>
            <a:srgbClr val="0D6E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Banks &amp; NBFCs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retail loan decisions in real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underwriting cost by 60–80%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100% RBI regulatory compliance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0515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788920" cy="411480"/>
          </a:xfrm>
          <a:prstGeom prst="rect">
            <a:avLst/>
          </a:prstGeom>
          <a:solidFill>
            <a:srgbClr val="FF4D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Fraud Investigation Teams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2704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anomalous profiles before loan disbursement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fraud patterns across income-loan map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application with an Isolation Forest risk rating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515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17336" y="1051560"/>
            <a:ext cx="2788920" cy="41148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8776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Compliance &amp; Audit Departments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screening against PEP lists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regulatory checklist (KYC/AML/RBI)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audit-ready PDF compliance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278892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Risk Management Desks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 and CVaR for lending portfolios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4-level stress tests on entire portfolio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breakdown for capital provisioning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72968" y="3017520"/>
            <a:ext cx="2788920" cy="4114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64408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🤳  Digital Onboarding Platforms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49300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KYC with computer vision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selfie to government ID using YOLO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ID verification — fully automated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17336" y="3017520"/>
            <a:ext cx="2788920" cy="41148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8776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Portfolio Analytics Teams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3493008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borrowers into profitable risk clusters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default rates by loan grade &amp; income bracket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institutional-grade portfolio reports as PDF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36576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unifies Credit Risk, Fraud Detection, KYC, Compliance and Portfolio Analytics into one platform.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achieves 90% accuracy with real-time individual loan scoring.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anomalous profiles with configurable fraud-rate thresholds.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CVaR / EL computations give full financial risk transparency.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YOLO-powered KYC eliminates manual identity verification.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tests &amp; PDF export enable institutional-grade reporting.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82880"/>
            <a:ext cx="3429000" cy="4754880"/>
          </a:xfrm>
          <a:prstGeom prst="rect">
            <a:avLst/>
          </a:prstGeom>
          <a:solidFill>
            <a:srgbClr val="0D6EFD">
              <a:alpha val="20000"/>
            </a:srgbClr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0" y="320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749808"/>
            <a:ext cx="3246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(LSTM) for time-series default prediction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monitoring with streaming data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PDF parser using OCR + NLP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API integration (CIBIL, Experian)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loan status bot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for rural banking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 (SHAP / LIME) for RBI compliance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073D6-473B-EEC1-252D-991AA8CA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49795A-C331-9AFE-659A-5276DF12DDD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F8EA7B-44FB-6528-02B8-5D82D00ACB36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BBAAD-E6CC-AB85-3F8E-234CAD854F3D}"/>
              </a:ext>
            </a:extLst>
          </p:cNvPr>
          <p:cNvSpPr txBox="1"/>
          <p:nvPr/>
        </p:nvSpPr>
        <p:spPr>
          <a:xfrm>
            <a:off x="2518116" y="1779563"/>
            <a:ext cx="75191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407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1315</Words>
  <Application>Microsoft Office PowerPoint</Application>
  <PresentationFormat>On-screen Show (16:9)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FinGuard Analytics &amp; Intelligence</dc:title>
  <dc:subject>PptxGenJS Presentation</dc:subject>
  <dc:creator>Harshita, Pooja &amp; Ridhima</dc:creator>
  <cp:lastModifiedBy>Pooja Gupta</cp:lastModifiedBy>
  <cp:revision>2</cp:revision>
  <dcterms:created xsi:type="dcterms:W3CDTF">2026-05-14T10:06:19Z</dcterms:created>
  <dcterms:modified xsi:type="dcterms:W3CDTF">2026-05-15T04:48:17Z</dcterms:modified>
</cp:coreProperties>
</file>